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4971d96-4de8-0430-5da4-80fcc1244068}">
          <p14:sldIdLst>
            <p14:sldId id="256"/>
            <p14:sldId id="257"/>
          </p14:sldIdLst>
        </p14:section>
        <p14:section name="1. O que é o Ray" id="{bfecfd45-5fc7-eeb7-ce5b-50f07f765f82}">
          <p14:sldIdLst>
            <p14:sldId id="258"/>
            <p14:sldId id="259"/>
            <p14:sldId id="260"/>
          </p14:sldIdLst>
        </p14:section>
        <p14:section name="2. Por que usar o Redis" id="{f95678ba-d6fb-63d8-8f36-6d989efcc3f9}">
          <p14:sldIdLst>
            <p14:sldId id="261"/>
            <p14:sldId id="262"/>
            <p14:sldId id="263"/>
          </p14:sldIdLst>
        </p14:section>
        <p14:section name="3. O cenário do laboratório" id="{aac8fe52-b9e1-1654-f67b-50e520e53ad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4. Dados do experimento" id="{17a8a33d-57d6-edbe-12ed-85d643aa6a44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onclusões" id="{457662f1-bf55-5fa5-9dfe-82301eac6126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B2D"/>
                </a:solidFill>
                <a:latin typeface="+mn-lt"/>
              </a:rPr>
              <a:t>Duração da indisponibilidade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wk_a</c:v>
                </c:pt>
              </c:strCache>
            </c:strRef>
          </c:tx>
          <c:spPr>
            <a:solidFill>
              <a:srgbClr val="3E7B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33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local</c:v>
                  </c:pt>
                  <c:pt idx="1">
                    <c:v>task_local</c:v>
                  </c:pt>
                  <c:pt idx="2">
                    <c:v>task_any</c:v>
                  </c:pt>
                  <c:pt idx="3">
                    <c:v>gcs_nodes</c:v>
                  </c:pt>
                  <c:pt idx="4">
                    <c:v>actor_lookup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5.04</c:v>
                </c:pt>
                <c:pt idx="2">
                  <c:v>5</c:v>
                </c:pt>
                <c:pt idx="3">
                  <c:v>5.27</c:v>
                </c:pt>
                <c:pt idx="4">
                  <c:v>5.09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wk_b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33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local</c:v>
                  </c:pt>
                  <c:pt idx="1">
                    <c:v>task_local</c:v>
                  </c:pt>
                  <c:pt idx="2">
                    <c:v>task_any</c:v>
                  </c:pt>
                  <c:pt idx="3">
                    <c:v>gcs_nodes</c:v>
                  </c:pt>
                  <c:pt idx="4">
                    <c:v>actor_lookup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7.41</c:v>
                </c:pt>
                <c:pt idx="2">
                  <c:v>7.3</c:v>
                </c:pt>
                <c:pt idx="3">
                  <c:v>5.08</c:v>
                </c:pt>
                <c:pt idx="4">
                  <c:v>5.23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33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35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335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laboratório que demonstra a tolerância a falhas do Global Control Store (GCS) do Ray usando Redis externo como armazenamento persistente.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Ray abstrai a distribuição: o desenvolvedor marca funções e classes com @ray.remote e o Ray cuida do escalonamento, da comunicação e da movimentação de dados entre os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GCS é o 'cérebro' de metadados do cluster. Sem ele, os workers não conseguem localizar actors por nome, consultar a lista de nós nem escalonar tarefas entre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documentação do Ray só suporta oficialmente GCS FT com Redis externo via KubeRay. Aqui reproduzimos o mesmo mecanismo localmente com ray start, para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KubeRay, quem reinicia o head é o próprio Kubernetes, recriando o Pod. No laboratório, esse papel é feito pelo head_supervisor.py. A documentação do Ray só suporta oficialmente esse modo via KubeRay.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supervisor reinicia o head com a mesma porta, o mesmo Redis e o mesmo namespace, como o KubeRay faz ao recriar o Pod do head. Os workers mantêm os raylets vivos e tentam reconectar ao GCS.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executivo: o experimento gcs_kill mata o processo gcs_server. Com Redis, o head é reiniciado pelo supervisor, o novo GCS recarrega o estado do Redis e os raylets dos workers se reconectam. Sem Redis, o novo GCS nasce vazio e os workers encerram.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ray start --block detecta a morte do gcs_server e encerra o head (rc=1). O supervisor espera 2 s e sobe um head novo, que recarrega o estado do Redis. Os raylets dos workers reconectam sozinhos e os probes voltam ao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Laboratório GCS FT · Ray + Redis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Tolerância a falhas do GCS no Ray com Redis externo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Laboratório de recuperação: injeção de falhas, medição de dentro dos workers e análise do tempo de recuperação</a:t>
            </a:r>
            <a:endParaRPr lang="en-US" sz="2000" dirty="0"/>
          </a:p>
        </p:txBody>
      </p:sp>
      <p:sp>
        <p:nvSpPr>
          <p:cNvPr id="4" name="Marca círculo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5" name="Marc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945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Sistemas Distribuídos · Projeto GCS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Roteiro</a:t>
            </a:r>
            <a:endParaRPr lang="en-US" sz="3000" dirty="0"/>
          </a:p>
        </p:txBody>
      </p:sp>
      <p:sp>
        <p:nvSpPr>
          <p:cNvPr id="3" name="Tópico 1"/>
          <p:cNvSpPr/>
          <p:nvPr/>
        </p:nvSpPr>
        <p:spPr>
          <a:xfrm>
            <a:off x="548640" y="137160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ópico 1 círculo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5" name="Tópic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16989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371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O que é o Ray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371600"/>
            <a:ext cx="5608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Framework de computação distribuída, cluster e o papel do GCS</a:t>
            </a:r>
            <a:endParaRPr lang="en-US" sz="1600" dirty="0"/>
          </a:p>
        </p:txBody>
      </p:sp>
      <p:sp>
        <p:nvSpPr>
          <p:cNvPr id="8" name="Tópico 2"/>
          <p:cNvSpPr/>
          <p:nvPr/>
        </p:nvSpPr>
        <p:spPr>
          <a:xfrm>
            <a:off x="548640" y="256032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ópico 2 círculo"/>
          <p:cNvSpPr/>
          <p:nvPr/>
        </p:nvSpPr>
        <p:spPr>
          <a:xfrm>
            <a:off x="777240" y="2697480"/>
            <a:ext cx="731520" cy="73152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10" name="Tópic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88767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83080" y="2560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Por que usar o Redis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560320"/>
            <a:ext cx="5608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GCS como ponto único de falha e a recuperação via Redis</a:t>
            </a:r>
            <a:endParaRPr lang="en-US" sz="1600" dirty="0"/>
          </a:p>
        </p:txBody>
      </p:sp>
      <p:sp>
        <p:nvSpPr>
          <p:cNvPr id="13" name="Tópico 3"/>
          <p:cNvSpPr/>
          <p:nvPr/>
        </p:nvSpPr>
        <p:spPr>
          <a:xfrm>
            <a:off x="548640" y="37490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ópico 3 círculo"/>
          <p:cNvSpPr/>
          <p:nvPr/>
        </p:nvSpPr>
        <p:spPr>
          <a:xfrm>
            <a:off x="777240" y="3886200"/>
            <a:ext cx="731520" cy="73152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15" name="Tópic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0763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749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O cenário do laboratório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3749040"/>
            <a:ext cx="5608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Objetivos, arquitetura, probes, fluxo e falhas injetadas</a:t>
            </a:r>
            <a:endParaRPr lang="en-US" sz="1600" dirty="0"/>
          </a:p>
        </p:txBody>
      </p:sp>
      <p:sp>
        <p:nvSpPr>
          <p:cNvPr id="18" name="Tópico 4"/>
          <p:cNvSpPr/>
          <p:nvPr/>
        </p:nvSpPr>
        <p:spPr>
          <a:xfrm>
            <a:off x="548640" y="493776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ópico 4 círculo"/>
          <p:cNvSpPr/>
          <p:nvPr/>
        </p:nvSpPr>
        <p:spPr>
          <a:xfrm>
            <a:off x="777240" y="5074920"/>
            <a:ext cx="731520" cy="73152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20" name="Tópic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526511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937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 Dados do experimento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4937760"/>
            <a:ext cx="5608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Tempos de recuperação, Redis × sem tolerância a falhas e demais cenários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Ao final: conclusões, limitações e como reproduzir o experimento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 O que é o Ray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Um framework open source para escalar aplicações Python de um notebook a um cluster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é o 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Ray é um framework open source, criado no RISELab da UC Berkeley, que permite distribuir código Python por vários processos e máquinas com poucas mudanças no código.</a:t>
            </a:r>
            <a:endParaRPr lang="en-US" sz="1800" dirty="0"/>
          </a:p>
        </p:txBody>
      </p:sp>
      <p:sp>
        <p:nvSpPr>
          <p:cNvPr id="4" name="Primitiva Tasks"/>
          <p:cNvSpPr/>
          <p:nvPr/>
        </p:nvSpPr>
        <p:spPr>
          <a:xfrm>
            <a:off x="548640" y="237744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imitiva Tasks círculo"/>
          <p:cNvSpPr/>
          <p:nvPr/>
        </p:nvSpPr>
        <p:spPr>
          <a:xfrm>
            <a:off x="822960" y="2606040"/>
            <a:ext cx="731520" cy="73152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6" name="Primitiva Task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7962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606040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Tasks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@ray.remote em uma função: execução assíncrona e sem estado em qualquer nó do cluster</a:t>
            </a:r>
            <a:endParaRPr lang="en-US" sz="1500" dirty="0"/>
          </a:p>
        </p:txBody>
      </p:sp>
      <p:sp>
        <p:nvSpPr>
          <p:cNvPr id="9" name="Primitiva Actors"/>
          <p:cNvSpPr/>
          <p:nvPr/>
        </p:nvSpPr>
        <p:spPr>
          <a:xfrm>
            <a:off x="4338218" y="237744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imitiva Actors círculo"/>
          <p:cNvSpPr/>
          <p:nvPr/>
        </p:nvSpPr>
        <p:spPr>
          <a:xfrm>
            <a:off x="4612538" y="2606040"/>
            <a:ext cx="731520" cy="73152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11" name="Primitiva Actor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34" y="27962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6938" y="2606040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Actors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520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@ray.remote em uma classe: um processo com estado que recebe chamadas de métodos</a:t>
            </a:r>
            <a:endParaRPr lang="en-US" sz="1500" dirty="0"/>
          </a:p>
        </p:txBody>
      </p:sp>
      <p:sp>
        <p:nvSpPr>
          <p:cNvPr id="14" name="Primitiva Objects"/>
          <p:cNvSpPr/>
          <p:nvPr/>
        </p:nvSpPr>
        <p:spPr>
          <a:xfrm>
            <a:off x="8127797" y="2377440"/>
            <a:ext cx="351525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imitiva Objects círculo"/>
          <p:cNvSpPr/>
          <p:nvPr/>
        </p:nvSpPr>
        <p:spPr>
          <a:xfrm>
            <a:off x="8402117" y="2606040"/>
            <a:ext cx="731520" cy="73152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16" name="Primitiva Object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312" y="27962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16517" y="2606040"/>
            <a:ext cx="2143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Objects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520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Resultados ficam num object store distribuído e são acessados por referência (ray.get)</a:t>
            </a:r>
            <a:endParaRPr lang="en-US" sz="1500" dirty="0"/>
          </a:p>
        </p:txBody>
      </p:sp>
      <p:sp>
        <p:nvSpPr>
          <p:cNvPr id="19" name="Bibliotecas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489204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Bibliotecas sobre o núcleo: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Ray Data · Ray Train · Ray Tune · Ray Serve · RLlib. Usado para treino e serving de modelos de IA, processamento de dados e simulações.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Arquitetura de um cluster Ray e o GCS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 cluster Ray tem um nó head, que coordena, e vários nós worker. Cada nó roda um raylet (escalonador local + object store).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Global Control Store (GCS) roda no head e guarda os metadados do cluster:</a:t>
            </a:r>
            <a:endParaRPr lang="en-US" sz="1700" dirty="0"/>
          </a:p>
        </p:txBody>
      </p:sp>
      <p:sp>
        <p:nvSpPr>
          <p:cNvPr id="4" name="Tabela de nós círculo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5" name="Tabela de nó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32973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Tabela de nós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quem está vivo, recursos de cada nó</a:t>
            </a:r>
            <a:endParaRPr lang="en-US" sz="1500" dirty="0"/>
          </a:p>
        </p:txBody>
      </p:sp>
      <p:sp>
        <p:nvSpPr>
          <p:cNvPr id="7" name="Tabela de actors círculo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8" name="Tabela de actors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40745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931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Tabela de actors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actors nomeados e detached, onde estão</a:t>
            </a:r>
            <a:endParaRPr lang="en-US" sz="1500" dirty="0"/>
          </a:p>
        </p:txBody>
      </p:sp>
      <p:sp>
        <p:nvSpPr>
          <p:cNvPr id="10" name="Placement groups e jobs círculo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11" name="Placement groups e jobs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85180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Placement groups e jobs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reservas de recursos e drivers</a:t>
            </a:r>
            <a:endParaRPr lang="en-US" sz="1500" dirty="0"/>
          </a:p>
        </p:txBody>
      </p:sp>
      <p:sp>
        <p:nvSpPr>
          <p:cNvPr id="13" name="KV interno círculo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14" name="KV intern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562904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5486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KV interno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configuração e dados das bibliotecas (Serve, Tune…)</a:t>
            </a:r>
            <a:endParaRPr lang="en-US" sz="1500" dirty="0"/>
          </a:p>
        </p:txBody>
      </p:sp>
      <p:sp>
        <p:nvSpPr>
          <p:cNvPr id="16" name="Painel do diagrama"/>
          <p:cNvSpPr/>
          <p:nvPr/>
        </p:nvSpPr>
        <p:spPr>
          <a:xfrm>
            <a:off x="6400800" y="1417320"/>
            <a:ext cx="521208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Head"/>
          <p:cNvSpPr/>
          <p:nvPr/>
        </p:nvSpPr>
        <p:spPr>
          <a:xfrm>
            <a:off x="7863840" y="169164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86384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Head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GCS + raylet</a:t>
            </a:r>
            <a:endParaRPr lang="en-US" sz="1800" dirty="0"/>
          </a:p>
        </p:txBody>
      </p:sp>
      <p:sp>
        <p:nvSpPr>
          <p:cNvPr id="19" name="Worker 1"/>
          <p:cNvSpPr/>
          <p:nvPr/>
        </p:nvSpPr>
        <p:spPr>
          <a:xfrm>
            <a:off x="6675120" y="420624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675120" y="4206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1</a:t>
            </a:r>
            <a:endParaRPr lang="en-US" sz="1400" dirty="0"/>
          </a:p>
        </p:txBody>
      </p:sp>
      <p:sp>
        <p:nvSpPr>
          <p:cNvPr id="21" name="Seta worker 1"/>
          <p:cNvSpPr/>
          <p:nvPr/>
        </p:nvSpPr>
        <p:spPr>
          <a:xfrm flipV="1">
            <a:off x="7360920" y="2834640"/>
            <a:ext cx="1645920" cy="1325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Worker 2"/>
          <p:cNvSpPr/>
          <p:nvPr/>
        </p:nvSpPr>
        <p:spPr>
          <a:xfrm>
            <a:off x="8321040" y="420624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21040" y="4206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2</a:t>
            </a:r>
            <a:endParaRPr lang="en-US" sz="1400" dirty="0"/>
          </a:p>
        </p:txBody>
      </p:sp>
      <p:sp>
        <p:nvSpPr>
          <p:cNvPr id="24" name="Seta worker 2"/>
          <p:cNvSpPr/>
          <p:nvPr/>
        </p:nvSpPr>
        <p:spPr>
          <a:xfrm flipV="1">
            <a:off x="9006840" y="2834640"/>
            <a:ext cx="914" cy="1325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Worker 3"/>
          <p:cNvSpPr/>
          <p:nvPr/>
        </p:nvSpPr>
        <p:spPr>
          <a:xfrm>
            <a:off x="9966960" y="4206240"/>
            <a:ext cx="13716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966960" y="4206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3</a:t>
            </a:r>
            <a:endParaRPr lang="en-US" sz="1400" dirty="0"/>
          </a:p>
        </p:txBody>
      </p:sp>
      <p:sp>
        <p:nvSpPr>
          <p:cNvPr id="27" name="Seta worker 3"/>
          <p:cNvSpPr/>
          <p:nvPr/>
        </p:nvSpPr>
        <p:spPr>
          <a:xfrm flipH="1" flipV="1">
            <a:off x="9006840" y="2834640"/>
            <a:ext cx="1645920" cy="1325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6675120" y="5349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Todos os raylets dependem do GCS para registro, descoberta de actors e escalonamento entre nós.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2. Por que usar o Redis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GCS é um ponto único de falha, e o Redis externo é o que permite recuperá-lo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problema: o GCS é um ponto único de falha</a:t>
            </a:r>
            <a:endParaRPr lang="en-US" sz="3000" dirty="0"/>
          </a:p>
        </p:txBody>
      </p:sp>
      <p:sp>
        <p:nvSpPr>
          <p:cNvPr id="3" name="Sem tolerância a falhas"/>
          <p:cNvSpPr/>
          <p:nvPr/>
        </p:nvSpPr>
        <p:spPr>
          <a:xfrm>
            <a:off x="548640" y="1417320"/>
            <a:ext cx="5318608" cy="4572000"/>
          </a:xfrm>
          <a:prstGeom prst="roundRect">
            <a:avLst>
              <a:gd name="adj" fmla="val 24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" name="Sem FT círculo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" name="Sem FT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8818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Sem tolerância a falhas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51760"/>
            <a:ext cx="4587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Estado só em memória: se o processo gcs_server morre, as tabelas se perdem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Um GCS novo nasce vazio e não reconhece os nós existentes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 raylets dos workers encerram, e actors detached e KV desaparecem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 prática, é preciso recriar o cluster inteiro</a:t>
            </a:r>
            <a:endParaRPr lang="en-US" sz="1600" dirty="0"/>
          </a:p>
        </p:txBody>
      </p:sp>
      <p:sp>
        <p:nvSpPr>
          <p:cNvPr id="8" name="Com Redis externo"/>
          <p:cNvSpPr/>
          <p:nvPr/>
        </p:nvSpPr>
        <p:spPr>
          <a:xfrm>
            <a:off x="6324448" y="1417320"/>
            <a:ext cx="5318608" cy="4572000"/>
          </a:xfrm>
          <a:prstGeom prst="roundRect">
            <a:avLst>
              <a:gd name="adj" fmla="val 2400"/>
            </a:avLst>
          </a:prstGeom>
          <a:solidFill>
            <a:srgbClr val="E3F5F2"/>
          </a:solidFill>
          <a:ln w="12700">
            <a:solidFill>
              <a:srgbClr val="E3F5F2"/>
            </a:solidFill>
            <a:prstDash val="solid"/>
          </a:ln>
        </p:spPr>
      </p:sp>
      <p:sp>
        <p:nvSpPr>
          <p:cNvPr id="9" name="Com FT círculo"/>
          <p:cNvSpPr/>
          <p:nvPr/>
        </p:nvSpPr>
        <p:spPr>
          <a:xfrm>
            <a:off x="6644488" y="169164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0" name="Com FT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83" y="18818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58888" y="173736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GCS FT com Redis externo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690208" y="2651760"/>
            <a:ext cx="45870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GCS grava suas tabelas no Redis (RAY_REDIS_ADDRESS)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Ao reiniciar no mesmo endereço e namespace, recarrega o estado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 raylets tentam reconectar por até gcs_rpc_server_reconnect_timeout_s (60 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Tarefas já rodando continuam, e chamadas ao GCS só ficam em espera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funciona a recuperação com Redis</a:t>
            </a:r>
            <a:endParaRPr lang="en-US" sz="3000" dirty="0"/>
          </a:p>
        </p:txBody>
      </p:sp>
      <p:sp>
        <p:nvSpPr>
          <p:cNvPr id="3" name="Etapa 1"/>
          <p:cNvSpPr/>
          <p:nvPr/>
        </p:nvSpPr>
        <p:spPr>
          <a:xfrm>
            <a:off x="548640" y="141732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apa 1 círculo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5" name="Etap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 Persistir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 operação normal, o GCS grava suas tabelas (nós, actors, jobs, KV) no Redis</a:t>
            </a:r>
            <a:endParaRPr lang="en-US" sz="1400" dirty="0"/>
          </a:p>
        </p:txBody>
      </p:sp>
      <p:sp>
        <p:nvSpPr>
          <p:cNvPr id="8" name="Seta etapa 1"/>
          <p:cNvSpPr/>
          <p:nvPr/>
        </p:nvSpPr>
        <p:spPr>
          <a:xfrm>
            <a:off x="3118790" y="2743200"/>
            <a:ext cx="24688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Etapa 2"/>
          <p:cNvSpPr/>
          <p:nvPr/>
        </p:nvSpPr>
        <p:spPr>
          <a:xfrm>
            <a:off x="3402254" y="141732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apa 2 círculo"/>
          <p:cNvSpPr/>
          <p:nvPr/>
        </p:nvSpPr>
        <p:spPr>
          <a:xfrm>
            <a:off x="3676574" y="1645920"/>
            <a:ext cx="731520" cy="7315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1" name="Etap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769" y="18361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76574" y="25146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 Falhar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76574" y="29718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processo do GCS morre; tarefas em andamento nos workers continuam</a:t>
            </a:r>
            <a:endParaRPr lang="en-US" sz="1400" dirty="0"/>
          </a:p>
        </p:txBody>
      </p:sp>
      <p:sp>
        <p:nvSpPr>
          <p:cNvPr id="14" name="Seta etapa 2"/>
          <p:cNvSpPr/>
          <p:nvPr/>
        </p:nvSpPr>
        <p:spPr>
          <a:xfrm>
            <a:off x="5972404" y="2743200"/>
            <a:ext cx="24688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Etapa 3"/>
          <p:cNvSpPr/>
          <p:nvPr/>
        </p:nvSpPr>
        <p:spPr>
          <a:xfrm>
            <a:off x="6255868" y="141732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apa 3 círculo"/>
          <p:cNvSpPr/>
          <p:nvPr/>
        </p:nvSpPr>
        <p:spPr>
          <a:xfrm>
            <a:off x="6530188" y="1645920"/>
            <a:ext cx="731520" cy="731520"/>
          </a:xfrm>
          <a:prstGeom prst="ellipse">
            <a:avLst/>
          </a:prstGeom>
          <a:solidFill>
            <a:srgbClr val="E39B0B"/>
          </a:solidFill>
          <a:ln w="12700">
            <a:solidFill>
              <a:srgbClr val="E39B0B"/>
            </a:solidFill>
            <a:prstDash val="solid"/>
          </a:ln>
        </p:spPr>
      </p:sp>
      <p:pic>
        <p:nvPicPr>
          <p:cNvPr id="17" name="Etap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383" y="18361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30188" y="25146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 Reiniciar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530188" y="29718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head sobe de novo no mesmo endereço, com o mesmo Redis e namespace</a:t>
            </a:r>
            <a:endParaRPr lang="en-US" sz="1400" dirty="0"/>
          </a:p>
        </p:txBody>
      </p:sp>
      <p:sp>
        <p:nvSpPr>
          <p:cNvPr id="20" name="Seta etapa 3"/>
          <p:cNvSpPr/>
          <p:nvPr/>
        </p:nvSpPr>
        <p:spPr>
          <a:xfrm>
            <a:off x="8826017" y="2743200"/>
            <a:ext cx="246888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Etapa 4"/>
          <p:cNvSpPr/>
          <p:nvPr/>
        </p:nvSpPr>
        <p:spPr>
          <a:xfrm>
            <a:off x="9109481" y="1417320"/>
            <a:ext cx="2533574" cy="265176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tapa 4 círculo"/>
          <p:cNvSpPr/>
          <p:nvPr/>
        </p:nvSpPr>
        <p:spPr>
          <a:xfrm>
            <a:off x="9383801" y="164592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3" name="Etapa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997" y="18361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83801" y="25146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 Recarregar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383801" y="2971800"/>
            <a:ext cx="19849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GCS novo lê o estado do Redis e os raylets dos workers se reconectam</a:t>
            </a:r>
            <a:endParaRPr lang="en-US" sz="1400" dirty="0"/>
          </a:p>
        </p:txBody>
      </p:sp>
      <p:sp>
        <p:nvSpPr>
          <p:cNvPr id="26" name="Configuração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686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3BF"/>
                </a:solidFill>
              </a:rPr>
              <a:t>Configuração usada (a mesma da documentação do Ray/KubeRay)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868680" y="480060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RAY_REDIS_ADDRESS=127.0.0.1:6399  ray start --head --redis-password raypass --redis-username default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RAY_external_storage_namespace=ray-ft-lab        # mesmo namespace em todo restart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RAY_gcs_rpc_server_reconnect_timeout_s=60        # quanto tempo os raylets esperam o GCS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3. O cenário do laboratório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 head + 2 workers + Redis externo, com injeção de falhas e medição de dentro dos workers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Finalidade do projeto</a:t>
            </a:r>
            <a:endParaRPr lang="en-US" sz="3000" dirty="0"/>
          </a:p>
        </p:txBody>
      </p:sp>
      <p:sp>
        <p:nvSpPr>
          <p:cNvPr id="3" name="Objetivo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jetivo 1 círculo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5" name="Objetiv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Demonstrar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20440"/>
            <a:ext cx="1927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Reproduzir, numa única máquina, o mecanismo de recuperação do GCS documentado para o KubeRay</a:t>
            </a:r>
            <a:endParaRPr lang="en-US" sz="1500" dirty="0"/>
          </a:p>
        </p:txBody>
      </p:sp>
      <p:sp>
        <p:nvSpPr>
          <p:cNvPr id="8" name="Objetivo 2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bjetivo 2 círculo"/>
          <p:cNvSpPr/>
          <p:nvPr/>
        </p:nvSpPr>
        <p:spPr>
          <a:xfrm>
            <a:off x="3710864" y="1783080"/>
            <a:ext cx="914400" cy="91440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10" name="Objetiv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608" y="20208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10864" y="2926080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Medir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10864" y="3520440"/>
            <a:ext cx="1927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Quantificar o tempo de indisponibilidade visto de dentro dos workers, não só pela porta do GCS</a:t>
            </a:r>
            <a:endParaRPr lang="en-US" sz="1500" dirty="0"/>
          </a:p>
        </p:txBody>
      </p:sp>
      <p:sp>
        <p:nvSpPr>
          <p:cNvPr id="13" name="Objetivo 3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bjetivo 3 círculo"/>
          <p:cNvSpPr/>
          <p:nvPr/>
        </p:nvSpPr>
        <p:spPr>
          <a:xfrm>
            <a:off x="6553048" y="1783080"/>
            <a:ext cx="914400" cy="91440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15" name="Objetiv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792" y="20208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2926080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Comparar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3520440"/>
            <a:ext cx="1927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Contrastar Redis × sem tolerância a falhas e diferentes tipos de falha</a:t>
            </a:r>
            <a:endParaRPr lang="en-US" sz="1500" dirty="0"/>
          </a:p>
        </p:txBody>
      </p:sp>
      <p:sp>
        <p:nvSpPr>
          <p:cNvPr id="18" name="Objetivo 4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bjetivo 4 círculo"/>
          <p:cNvSpPr/>
          <p:nvPr/>
        </p:nvSpPr>
        <p:spPr>
          <a:xfrm>
            <a:off x="9395231" y="1783080"/>
            <a:ext cx="914400" cy="91440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pic>
        <p:nvPicPr>
          <p:cNvPr id="20" name="Objetiv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975" y="202082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95231" y="2926080"/>
            <a:ext cx="1927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Validar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395231" y="3520440"/>
            <a:ext cx="1927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que sobrevive (KV, actors detached, processos) e o que degrada durante a queda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Arquitetura do laboratório</a:t>
            </a:r>
            <a:endParaRPr lang="en-US" sz="3000" dirty="0"/>
          </a:p>
        </p:txBody>
      </p:sp>
      <p:sp>
        <p:nvSpPr>
          <p:cNvPr id="3" name="Supervisor"/>
          <p:cNvSpPr/>
          <p:nvPr/>
        </p:nvSpPr>
        <p:spPr>
          <a:xfrm>
            <a:off x="548640" y="1371600"/>
            <a:ext cx="3017520" cy="1005840"/>
          </a:xfrm>
          <a:prstGeom prst="roundRect">
            <a:avLst>
              <a:gd name="adj" fmla="val 10909"/>
            </a:avLst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head_supervisor.py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simula o kubelet/KubeRay: reinicia o head</a:t>
            </a:r>
            <a:endParaRPr lang="en-US" sz="1500" dirty="0"/>
          </a:p>
        </p:txBody>
      </p:sp>
      <p:sp>
        <p:nvSpPr>
          <p:cNvPr id="5" name="Nó head"/>
          <p:cNvSpPr/>
          <p:nvPr/>
        </p:nvSpPr>
        <p:spPr>
          <a:xfrm>
            <a:off x="4114800" y="1280160"/>
            <a:ext cx="384048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43400" y="1389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Nó head</a:t>
            </a:r>
            <a:endParaRPr lang="en-US" sz="1500" dirty="0"/>
          </a:p>
        </p:txBody>
      </p:sp>
      <p:sp>
        <p:nvSpPr>
          <p:cNvPr id="7" name="GCS server"/>
          <p:cNvSpPr/>
          <p:nvPr/>
        </p:nvSpPr>
        <p:spPr>
          <a:xfrm>
            <a:off x="4343400" y="1828800"/>
            <a:ext cx="160020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828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GCS 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:6380</a:t>
            </a:r>
            <a:endParaRPr lang="en-US" sz="1500" dirty="0"/>
          </a:p>
        </p:txBody>
      </p:sp>
      <p:sp>
        <p:nvSpPr>
          <p:cNvPr id="9" name="Raylet head"/>
          <p:cNvSpPr/>
          <p:nvPr/>
        </p:nvSpPr>
        <p:spPr>
          <a:xfrm>
            <a:off x="6126480" y="182880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33507A"/>
          </a:solidFill>
          <a:ln w="12700">
            <a:solidFill>
              <a:srgbClr val="335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828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Raylet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:6390 / :6391</a:t>
            </a:r>
            <a:endParaRPr lang="en-US" sz="1500" dirty="0"/>
          </a:p>
        </p:txBody>
      </p:sp>
      <p:sp>
        <p:nvSpPr>
          <p:cNvPr id="11" name="Supervisor para head"/>
          <p:cNvSpPr/>
          <p:nvPr/>
        </p:nvSpPr>
        <p:spPr>
          <a:xfrm>
            <a:off x="3566160" y="1874520"/>
            <a:ext cx="502920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Redis"/>
          <p:cNvSpPr/>
          <p:nvPr/>
        </p:nvSpPr>
        <p:spPr>
          <a:xfrm>
            <a:off x="9052560" y="12801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28016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Redis externo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:6399 · AOF everysec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namespace ray-ft-lab</a:t>
            </a:r>
            <a:endParaRPr lang="en-US" sz="1400" dirty="0"/>
          </a:p>
        </p:txBody>
      </p:sp>
      <p:sp>
        <p:nvSpPr>
          <p:cNvPr id="14" name="GCS para Redis"/>
          <p:cNvSpPr/>
          <p:nvPr/>
        </p:nvSpPr>
        <p:spPr>
          <a:xfrm>
            <a:off x="8001000" y="2377440"/>
            <a:ext cx="1005840" cy="914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95528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persiste tabelas</a:t>
            </a:r>
            <a:endParaRPr lang="en-US" sz="1100" dirty="0"/>
          </a:p>
        </p:txBody>
      </p:sp>
      <p:sp>
        <p:nvSpPr>
          <p:cNvPr id="16" name="Worker wk_a"/>
          <p:cNvSpPr/>
          <p:nvPr/>
        </p:nvSpPr>
        <p:spPr>
          <a:xfrm>
            <a:off x="4114800" y="43434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434340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Worker wk_a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raylet + actor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hb_wk_a</a:t>
            </a:r>
            <a:endParaRPr lang="en-US" sz="1500" dirty="0"/>
          </a:p>
        </p:txBody>
      </p:sp>
      <p:sp>
        <p:nvSpPr>
          <p:cNvPr id="18" name="Reconexão wk_a"/>
          <p:cNvSpPr/>
          <p:nvPr/>
        </p:nvSpPr>
        <p:spPr>
          <a:xfrm flipV="1">
            <a:off x="4956048" y="3520440"/>
            <a:ext cx="182880" cy="777240"/>
          </a:xfrm>
          <a:prstGeom prst="line">
            <a:avLst/>
          </a:prstGeom>
          <a:noFill/>
          <a:ln w="22225">
            <a:solidFill>
              <a:srgbClr val="3E7BD6"/>
            </a:solidFill>
            <a:prstDash val="dash"/>
            <a:tailEnd type="triangle"/>
          </a:ln>
        </p:spPr>
      </p:sp>
      <p:sp>
        <p:nvSpPr>
          <p:cNvPr id="19" name="Worker wk_b"/>
          <p:cNvSpPr/>
          <p:nvPr/>
        </p:nvSpPr>
        <p:spPr>
          <a:xfrm>
            <a:off x="6263640" y="4343400"/>
            <a:ext cx="1691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4343400"/>
            <a:ext cx="1691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Worker wk_b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raylet + actor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hb_wk_b</a:t>
            </a:r>
            <a:endParaRPr lang="en-US" sz="1500" dirty="0"/>
          </a:p>
        </p:txBody>
      </p:sp>
      <p:sp>
        <p:nvSpPr>
          <p:cNvPr id="21" name="Reconexão wk_b"/>
          <p:cNvSpPr/>
          <p:nvPr/>
        </p:nvSpPr>
        <p:spPr>
          <a:xfrm flipH="1" flipV="1">
            <a:off x="5138928" y="3520440"/>
            <a:ext cx="1965960" cy="777240"/>
          </a:xfrm>
          <a:prstGeom prst="line">
            <a:avLst/>
          </a:prstGeom>
          <a:noFill/>
          <a:ln w="22225">
            <a:solidFill>
              <a:srgbClr val="3E7BD6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4465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raylets reconectam ao GCS (≤ 60 s)</a:t>
            </a:r>
            <a:endParaRPr lang="en-US" sz="1100" dirty="0"/>
          </a:p>
        </p:txBody>
      </p:sp>
      <p:sp>
        <p:nvSpPr>
          <p:cNvPr id="23" name="Orquestrador"/>
          <p:cNvSpPr/>
          <p:nvPr/>
        </p:nvSpPr>
        <p:spPr>
          <a:xfrm>
            <a:off x="548640" y="3291840"/>
            <a:ext cx="3017520" cy="2651760"/>
          </a:xfrm>
          <a:prstGeom prst="roundRect">
            <a:avLst>
              <a:gd name="adj" fmla="val 4138"/>
            </a:avLst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4290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run_scenario.py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Orquestra o experimento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Injeta a falha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Monitor TCP a cada 100 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ray health-check (~1–2 s)</a:t>
            </a:r>
            <a:endParaRPr lang="en-US" sz="1300" dirty="0"/>
          </a:p>
        </p:txBody>
      </p:sp>
      <p:sp>
        <p:nvSpPr>
          <p:cNvPr id="25" name="Falha injetada"/>
          <p:cNvSpPr/>
          <p:nvPr/>
        </p:nvSpPr>
        <p:spPr>
          <a:xfrm flipV="1">
            <a:off x="3566160" y="3520440"/>
            <a:ext cx="822960" cy="685800"/>
          </a:xfrm>
          <a:prstGeom prst="line">
            <a:avLst/>
          </a:prstGeom>
          <a:noFill/>
          <a:ln w="22225">
            <a:solidFill>
              <a:srgbClr val="E39B0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65760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kill -9</a:t>
            </a:r>
            <a:endParaRPr lang="en-US" sz="1100" dirty="0"/>
          </a:p>
        </p:txBody>
      </p:sp>
      <p:sp>
        <p:nvSpPr>
          <p:cNvPr id="27" name="Legenda"/>
          <p:cNvSpPr/>
          <p:nvPr/>
        </p:nvSpPr>
        <p:spPr>
          <a:xfrm>
            <a:off x="8595360" y="4343400"/>
            <a:ext cx="3063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78240" y="4434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Tudo roda numa só máquina (loopback)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Portas fixas no head para reiniciar no mesmo endereço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Probes gravam JSONL localmente em cada worker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Componentes de software</a:t>
            </a:r>
            <a:endParaRPr lang="en-US" sz="3000" dirty="0"/>
          </a:p>
        </p:txBody>
      </p:sp>
      <p:sp>
        <p:nvSpPr>
          <p:cNvPr id="3" name="Componente common.py"/>
          <p:cNvSpPr/>
          <p:nvPr/>
        </p:nvSpPr>
        <p:spPr>
          <a:xfrm>
            <a:off x="548640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Portas, namespace, variáveis RAY_* e comandos ray start compartilhados</a:t>
            </a:r>
            <a:endParaRPr lang="en-US" sz="1500" dirty="0"/>
          </a:p>
        </p:txBody>
      </p:sp>
      <p:sp>
        <p:nvSpPr>
          <p:cNvPr id="6" name="Componente cluster.py"/>
          <p:cNvSpPr/>
          <p:nvPr/>
        </p:nvSpPr>
        <p:spPr>
          <a:xfrm>
            <a:off x="4338218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cluster.py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Sobe/derruba Redis (Docker ou nativo), head supervisionado e workers</a:t>
            </a:r>
            <a:endParaRPr lang="en-US" sz="1500" dirty="0"/>
          </a:p>
        </p:txBody>
      </p:sp>
      <p:sp>
        <p:nvSpPr>
          <p:cNvPr id="9" name="Componente head_supervisor.py"/>
          <p:cNvSpPr/>
          <p:nvPr/>
        </p:nvSpPr>
        <p:spPr>
          <a:xfrm>
            <a:off x="8127797" y="146304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737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head_supervisor.py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Reinicia o head após uma queda, com o mesmo endereço e storage</a:t>
            </a:r>
            <a:endParaRPr lang="en-US" sz="1500" dirty="0"/>
          </a:p>
        </p:txBody>
      </p:sp>
      <p:sp>
        <p:nvSpPr>
          <p:cNvPr id="12" name="Componente probes.py"/>
          <p:cNvSpPr/>
          <p:nvPr/>
        </p:nvSpPr>
        <p:spPr>
          <a:xfrm>
            <a:off x="548640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probes.py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Actors Heartbeat detached nos workers + marcador no KV + verificação</a:t>
            </a:r>
            <a:endParaRPr lang="en-US" sz="1500" dirty="0"/>
          </a:p>
        </p:txBody>
      </p:sp>
      <p:sp>
        <p:nvSpPr>
          <p:cNvPr id="15" name="Componente run_scenario.py"/>
          <p:cNvSpPr/>
          <p:nvPr/>
        </p:nvSpPr>
        <p:spPr>
          <a:xfrm>
            <a:off x="4338218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run_scenario.py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17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Orquestra: limpa → sobe → aquece → falha → observa → verifica</a:t>
            </a:r>
            <a:endParaRPr lang="en-US" sz="1500" dirty="0"/>
          </a:p>
        </p:txBody>
      </p:sp>
      <p:sp>
        <p:nvSpPr>
          <p:cNvPr id="18" name="Componente analyze.py"/>
          <p:cNvSpPr/>
          <p:nvPr/>
        </p:nvSpPr>
        <p:spPr>
          <a:xfrm>
            <a:off x="8127797" y="3794760"/>
            <a:ext cx="351525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40690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analyze.py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17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Cruza eventos e probes: degradação, recuperação, outage e 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medimos: probes de dentro dos workers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Python sem Ray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Nada: prova que o processo vive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task_local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fixada no próprio nó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Raylet local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task_any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 em qualquer nó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do cluster (GCS)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gcs_nodes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ray.nodes() + nº de nós vivos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 direta ao GCS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actor_lookup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ray.get_actor(peer)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de nome no GCS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4" name="Como é medido"/>
          <p:cNvSpPr/>
          <p:nvPr/>
        </p:nvSpPr>
        <p:spPr>
          <a:xfrm>
            <a:off x="7863840" y="1463040"/>
            <a:ext cx="3776472" cy="4480560"/>
          </a:xfrm>
          <a:prstGeom prst="roundRect">
            <a:avLst>
              <a:gd name="adj" fmla="val 29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rtbeat círculo"/>
          <p:cNvSpPr/>
          <p:nvPr/>
        </p:nvSpPr>
        <p:spPr>
          <a:xfrm>
            <a:off x="8138160" y="1737360"/>
            <a:ext cx="731520" cy="73152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6" name="Heartbeat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355" y="192755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00684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Actor Heartbeat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26974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actor detached por worker (hb_wk_a, hb_wk_b)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probe roda em uma thread, a cada 0,5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Grava JSONL local, então mede mesmo com o GCS fora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Degradação = erro ou latência &gt; 2 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20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Status no relatório: NO IMPACT · RECOVERED · NOT RECOVERED · SILENT (parou de registrar: worker morto)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Fluxo de um experimento</a:t>
            </a:r>
            <a:endParaRPr lang="en-US" sz="3000" dirty="0"/>
          </a:p>
        </p:txBody>
      </p:sp>
      <p:sp>
        <p:nvSpPr>
          <p:cNvPr id="3" name="Passo 1"/>
          <p:cNvSpPr/>
          <p:nvPr/>
        </p:nvSpPr>
        <p:spPr>
          <a:xfrm>
            <a:off x="548640" y="155448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1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Limpar cluster anterior</a:t>
            </a:r>
            <a:endParaRPr lang="en-US" sz="1600" dirty="0"/>
          </a:p>
        </p:txBody>
      </p:sp>
      <p:sp>
        <p:nvSpPr>
          <p:cNvPr id="7" name="Passo 2"/>
          <p:cNvSpPr/>
          <p:nvPr/>
        </p:nvSpPr>
        <p:spPr>
          <a:xfrm>
            <a:off x="2813243" y="155448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 2"/>
          <p:cNvSpPr/>
          <p:nvPr/>
        </p:nvSpPr>
        <p:spPr>
          <a:xfrm>
            <a:off x="3041843" y="178308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1843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41843" y="24688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Subir Redis, head e workers</a:t>
            </a:r>
            <a:endParaRPr lang="en-US" sz="1600" dirty="0"/>
          </a:p>
        </p:txBody>
      </p:sp>
      <p:sp>
        <p:nvSpPr>
          <p:cNvPr id="11" name="Passo 3"/>
          <p:cNvSpPr/>
          <p:nvPr/>
        </p:nvSpPr>
        <p:spPr>
          <a:xfrm>
            <a:off x="5077846" y="155448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 3"/>
          <p:cNvSpPr/>
          <p:nvPr/>
        </p:nvSpPr>
        <p:spPr>
          <a:xfrm>
            <a:off x="5306446" y="178308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6446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06446" y="24688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Criar probes + marcador KV</a:t>
            </a:r>
            <a:endParaRPr lang="en-US" sz="1600" dirty="0"/>
          </a:p>
        </p:txBody>
      </p:sp>
      <p:sp>
        <p:nvSpPr>
          <p:cNvPr id="15" name="Passo 4"/>
          <p:cNvSpPr/>
          <p:nvPr/>
        </p:nvSpPr>
        <p:spPr>
          <a:xfrm>
            <a:off x="7342449" y="155448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4"/>
          <p:cNvSpPr/>
          <p:nvPr/>
        </p:nvSpPr>
        <p:spPr>
          <a:xfrm>
            <a:off x="7571049" y="178308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049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71049" y="24688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Aquecer (15 s)</a:t>
            </a:r>
            <a:endParaRPr lang="en-US" sz="1600" dirty="0"/>
          </a:p>
        </p:txBody>
      </p:sp>
      <p:sp>
        <p:nvSpPr>
          <p:cNvPr id="19" name="Passo 5"/>
          <p:cNvSpPr/>
          <p:nvPr/>
        </p:nvSpPr>
        <p:spPr>
          <a:xfrm>
            <a:off x="9607052" y="155448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úmero 5"/>
          <p:cNvSpPr/>
          <p:nvPr/>
        </p:nvSpPr>
        <p:spPr>
          <a:xfrm>
            <a:off x="9835652" y="178308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565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835652" y="24688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Ligar monitor externo</a:t>
            </a:r>
            <a:endParaRPr lang="en-US" sz="1600" dirty="0"/>
          </a:p>
        </p:txBody>
      </p:sp>
      <p:sp>
        <p:nvSpPr>
          <p:cNvPr id="23" name="Passo 6"/>
          <p:cNvSpPr/>
          <p:nvPr/>
        </p:nvSpPr>
        <p:spPr>
          <a:xfrm>
            <a:off x="548640" y="3794760"/>
            <a:ext cx="2036003" cy="1783080"/>
          </a:xfrm>
          <a:prstGeom prst="roundRect">
            <a:avLst>
              <a:gd name="adj" fmla="val 6154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4" name="Número 6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Injetar a falha</a:t>
            </a:r>
            <a:endParaRPr lang="en-US" sz="1600" dirty="0"/>
          </a:p>
        </p:txBody>
      </p:sp>
      <p:sp>
        <p:nvSpPr>
          <p:cNvPr id="27" name="Passo 7"/>
          <p:cNvSpPr/>
          <p:nvPr/>
        </p:nvSpPr>
        <p:spPr>
          <a:xfrm>
            <a:off x="2813243" y="379476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úmero 7"/>
          <p:cNvSpPr/>
          <p:nvPr/>
        </p:nvSpPr>
        <p:spPr>
          <a:xfrm>
            <a:off x="3041843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41843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041843" y="470916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Observar (60 s)</a:t>
            </a:r>
            <a:endParaRPr lang="en-US" sz="1600" dirty="0"/>
          </a:p>
        </p:txBody>
      </p:sp>
      <p:sp>
        <p:nvSpPr>
          <p:cNvPr id="31" name="Passo 8"/>
          <p:cNvSpPr/>
          <p:nvPr/>
        </p:nvSpPr>
        <p:spPr>
          <a:xfrm>
            <a:off x="5077846" y="379476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úmero 8"/>
          <p:cNvSpPr/>
          <p:nvPr/>
        </p:nvSpPr>
        <p:spPr>
          <a:xfrm>
            <a:off x="5306446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6446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306446" y="470916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Verificar estado</a:t>
            </a:r>
            <a:endParaRPr lang="en-US" sz="1600" dirty="0"/>
          </a:p>
        </p:txBody>
      </p:sp>
      <p:sp>
        <p:nvSpPr>
          <p:cNvPr id="35" name="Passo 9"/>
          <p:cNvSpPr/>
          <p:nvPr/>
        </p:nvSpPr>
        <p:spPr>
          <a:xfrm>
            <a:off x="7342449" y="379476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Número 9"/>
          <p:cNvSpPr/>
          <p:nvPr/>
        </p:nvSpPr>
        <p:spPr>
          <a:xfrm>
            <a:off x="7571049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71049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571049" y="470916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Salvar logs</a:t>
            </a:r>
            <a:endParaRPr lang="en-US" sz="1600" dirty="0"/>
          </a:p>
        </p:txBody>
      </p:sp>
      <p:sp>
        <p:nvSpPr>
          <p:cNvPr id="39" name="Passo 10"/>
          <p:cNvSpPr/>
          <p:nvPr/>
        </p:nvSpPr>
        <p:spPr>
          <a:xfrm>
            <a:off x="9607052" y="3794760"/>
            <a:ext cx="2036003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Número 10"/>
          <p:cNvSpPr/>
          <p:nvPr/>
        </p:nvSpPr>
        <p:spPr>
          <a:xfrm>
            <a:off x="9835652" y="402336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35652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9835652" y="470916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Gerar relatório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Cada execução grava em logs/&lt;run_id&gt;/: params.json, events.jsonl, head.log, supervisor.log, workers.log, probe_*.jsonl e summary.json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Cenários de falha injetados</a:t>
            </a:r>
            <a:endParaRPr lang="en-US" sz="3000" dirty="0"/>
          </a:p>
        </p:txBody>
      </p:sp>
      <p:sp>
        <p:nvSpPr>
          <p:cNvPr id="3" name="Cenário gcs_kill"/>
          <p:cNvSpPr/>
          <p:nvPr/>
        </p:nvSpPr>
        <p:spPr>
          <a:xfrm>
            <a:off x="548640" y="141732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enário gcs_kill círculo"/>
          <p:cNvSpPr/>
          <p:nvPr/>
        </p:nvSpPr>
        <p:spPr>
          <a:xfrm>
            <a:off x="822960" y="1709928"/>
            <a:ext cx="731520" cy="7315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" name="Cenário gcs_kill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00123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53619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gcs_kill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9202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kill -9 só no gcs_server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5856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Crash parcial do head; o supervisor reinicia em 2 s</a:t>
            </a:r>
            <a:endParaRPr lang="en-US" sz="1500" dirty="0"/>
          </a:p>
        </p:txBody>
      </p:sp>
      <p:sp>
        <p:nvSpPr>
          <p:cNvPr id="9" name="Cenário gcs_freeze"/>
          <p:cNvSpPr/>
          <p:nvPr/>
        </p:nvSpPr>
        <p:spPr>
          <a:xfrm>
            <a:off x="6278728" y="141732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enário gcs_freeze círculo"/>
          <p:cNvSpPr/>
          <p:nvPr/>
        </p:nvSpPr>
        <p:spPr>
          <a:xfrm>
            <a:off x="6553048" y="1709928"/>
            <a:ext cx="731520" cy="731520"/>
          </a:xfrm>
          <a:prstGeom prst="ellipse">
            <a:avLst/>
          </a:prstGeom>
          <a:solidFill>
            <a:srgbClr val="E39B0B"/>
          </a:solidFill>
          <a:ln w="12700">
            <a:solidFill>
              <a:srgbClr val="E39B0B"/>
            </a:solidFill>
            <a:prstDash val="solid"/>
          </a:ln>
        </p:spPr>
      </p:sp>
      <p:pic>
        <p:nvPicPr>
          <p:cNvPr id="11" name="Cenário gcs_freez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243" y="190012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13168" y="153619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gcs_freeze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513168" y="192024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SIGSTOP por --down s, depois SIGCONT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513168" y="225856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GCS indisponível sem perder memória; testa o timeout</a:t>
            </a:r>
            <a:endParaRPr lang="en-US" sz="1500" dirty="0"/>
          </a:p>
        </p:txBody>
      </p:sp>
      <p:sp>
        <p:nvSpPr>
          <p:cNvPr id="15" name="Cenário head_kill"/>
          <p:cNvSpPr/>
          <p:nvPr/>
        </p:nvSpPr>
        <p:spPr>
          <a:xfrm>
            <a:off x="548640" y="297180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enário head_kill círculo"/>
          <p:cNvSpPr/>
          <p:nvPr/>
        </p:nvSpPr>
        <p:spPr>
          <a:xfrm>
            <a:off x="822960" y="3264408"/>
            <a:ext cx="731520" cy="7315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7" name="Cenário head_kill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345460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309067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head_kill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347472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kill -9 em toda a árvore do head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381304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Crash total do head (GCS + raylet)</a:t>
            </a:r>
            <a:endParaRPr lang="en-US" sz="1500" dirty="0"/>
          </a:p>
        </p:txBody>
      </p:sp>
      <p:sp>
        <p:nvSpPr>
          <p:cNvPr id="21" name="Cenário redis_outage"/>
          <p:cNvSpPr/>
          <p:nvPr/>
        </p:nvSpPr>
        <p:spPr>
          <a:xfrm>
            <a:off x="6278728" y="297180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enário redis_outage círculo"/>
          <p:cNvSpPr/>
          <p:nvPr/>
        </p:nvSpPr>
        <p:spPr>
          <a:xfrm>
            <a:off x="6553048" y="3264408"/>
            <a:ext cx="731520" cy="731520"/>
          </a:xfrm>
          <a:prstGeom prst="ellipse">
            <a:avLst/>
          </a:prstGeom>
          <a:solidFill>
            <a:srgbClr val="7C5CD6"/>
          </a:solidFill>
          <a:ln w="12700">
            <a:solidFill>
              <a:srgbClr val="7C5CD6"/>
            </a:solidFill>
            <a:prstDash val="solid"/>
          </a:ln>
        </p:spPr>
      </p:sp>
      <p:pic>
        <p:nvPicPr>
          <p:cNvPr id="23" name="Cenário redis_outage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243" y="3454603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13168" y="309067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redis_outage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13168" y="347472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Para o Redis por --down 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513168" y="381304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storage some com o cluster rodando</a:t>
            </a:r>
            <a:endParaRPr lang="en-US" sz="1500" dirty="0"/>
          </a:p>
        </p:txBody>
      </p:sp>
      <p:sp>
        <p:nvSpPr>
          <p:cNvPr id="27" name="Cenário cluster_kill"/>
          <p:cNvSpPr/>
          <p:nvPr/>
        </p:nvSpPr>
        <p:spPr>
          <a:xfrm>
            <a:off x="548640" y="452628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enário cluster_kill círculo"/>
          <p:cNvSpPr/>
          <p:nvPr/>
        </p:nvSpPr>
        <p:spPr>
          <a:xfrm>
            <a:off x="822960" y="4818888"/>
            <a:ext cx="731520" cy="731520"/>
          </a:xfrm>
          <a:prstGeom prst="ellipse">
            <a:avLst/>
          </a:prstGeom>
          <a:solidFill>
            <a:srgbClr val="3E7BD6"/>
          </a:solidFill>
          <a:ln w="12700">
            <a:solidFill>
              <a:srgbClr val="3E7BD6"/>
            </a:solidFill>
            <a:prstDash val="solid"/>
          </a:ln>
        </p:spPr>
      </p:sp>
      <p:pic>
        <p:nvPicPr>
          <p:cNvPr id="29" name="Cenário cluster_kill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5009083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783080" y="464515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cluster_kill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1783080" y="502920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Mata head + workers e sobe tudo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1783080" y="536752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Recuperação 100% a partir do Redis</a:t>
            </a:r>
            <a:endParaRPr lang="en-US" sz="1500" dirty="0"/>
          </a:p>
        </p:txBody>
      </p:sp>
      <p:sp>
        <p:nvSpPr>
          <p:cNvPr id="33" name="Cenário --storage none"/>
          <p:cNvSpPr/>
          <p:nvPr/>
        </p:nvSpPr>
        <p:spPr>
          <a:xfrm>
            <a:off x="6278728" y="4526280"/>
            <a:ext cx="5364328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enário --storage none círculo"/>
          <p:cNvSpPr/>
          <p:nvPr/>
        </p:nvSpPr>
        <p:spPr>
          <a:xfrm>
            <a:off x="6553048" y="4818888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5" name="Cenário --storage none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243" y="5009083"/>
            <a:ext cx="351130" cy="35113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513168" y="464515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--storage none</a:t>
            </a:r>
            <a:endParaRPr lang="en-US" sz="1800" dirty="0"/>
          </a:p>
        </p:txBody>
      </p:sp>
      <p:sp>
        <p:nvSpPr>
          <p:cNvPr id="37" name="Text 29"/>
          <p:cNvSpPr txBox="1"/>
          <p:nvPr/>
        </p:nvSpPr>
        <p:spPr>
          <a:xfrm>
            <a:off x="7513168" y="5029200"/>
            <a:ext cx="390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Baseline sem tolerância a falhas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7513168" y="5367528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Hipótese: o cluster não sobrevive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4. Dados do experimento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Execuções com Ray 2.59 e Redis 7 · cenário principal: gcs_kill (kill -9 no processo do GCS)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Resultados em números (gcs_kill)</a:t>
            </a:r>
            <a:endParaRPr lang="en-US" sz="3000" dirty="0"/>
          </a:p>
        </p:txBody>
      </p:sp>
      <p:sp>
        <p:nvSpPr>
          <p:cNvPr id="3" name="Mensagem principal"/>
          <p:cNvSpPr/>
          <p:nvPr/>
        </p:nvSpPr>
        <p:spPr>
          <a:xfrm>
            <a:off x="548640" y="1463040"/>
            <a:ext cx="11094415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45920"/>
            <a:ext cx="10180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Com Redis externo, o GCS do Ray pode morrer e voltar em poucos segundos sem que o cluster perca o estado: os workers continuam vivos, os actors persistem e o KV é preservado.</a:t>
            </a:r>
            <a:endParaRPr lang="en-US" sz="2200" dirty="0"/>
          </a:p>
        </p:txBody>
      </p:sp>
      <p:sp>
        <p:nvSpPr>
          <p:cNvPr id="5" name="Indicador 1"/>
          <p:cNvSpPr/>
          <p:nvPr/>
        </p:nvSpPr>
        <p:spPr>
          <a:xfrm>
            <a:off x="548640" y="3657600"/>
            <a:ext cx="256786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para o GCS voltar a aceitar conexões</a:t>
            </a:r>
            <a:endParaRPr lang="en-US" sz="1500" dirty="0"/>
          </a:p>
        </p:txBody>
      </p:sp>
      <p:sp>
        <p:nvSpPr>
          <p:cNvPr id="8" name="Indicador 2"/>
          <p:cNvSpPr/>
          <p:nvPr/>
        </p:nvSpPr>
        <p:spPr>
          <a:xfrm>
            <a:off x="3390824" y="3657600"/>
            <a:ext cx="256786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388620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≈7,5 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49377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pior indisponibilidade medida nos workers</a:t>
            </a:r>
            <a:endParaRPr lang="en-US" sz="1500" dirty="0"/>
          </a:p>
        </p:txBody>
      </p:sp>
      <p:sp>
        <p:nvSpPr>
          <p:cNvPr id="11" name="Indicador 3"/>
          <p:cNvSpPr/>
          <p:nvPr/>
        </p:nvSpPr>
        <p:spPr>
          <a:xfrm>
            <a:off x="6233008" y="3657600"/>
            <a:ext cx="256786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388620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49377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 estado preservado (KV + 2 actors)</a:t>
            </a:r>
            <a:endParaRPr lang="en-US" sz="1500" dirty="0"/>
          </a:p>
        </p:txBody>
      </p:sp>
      <p:sp>
        <p:nvSpPr>
          <p:cNvPr id="14" name="Indicador 4"/>
          <p:cNvSpPr/>
          <p:nvPr/>
        </p:nvSpPr>
        <p:spPr>
          <a:xfrm>
            <a:off x="9075191" y="3657600"/>
            <a:ext cx="256786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9511" y="388620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493776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preservado sem Redis (baseline)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gcs_kill com Redis: linha do tempo da recuperação</a:t>
            </a:r>
            <a:endParaRPr lang="en-US" sz="3000" dirty="0"/>
          </a:p>
        </p:txBody>
      </p:sp>
      <p:sp>
        <p:nvSpPr>
          <p:cNvPr id="3" name="Faixa de degradação"/>
          <p:cNvSpPr/>
          <p:nvPr/>
        </p:nvSpPr>
        <p:spPr>
          <a:xfrm>
            <a:off x="822960" y="3401568"/>
            <a:ext cx="6547169" cy="329184"/>
          </a:xfrm>
          <a:prstGeom prst="rect">
            <a:avLst/>
          </a:prstGeom>
          <a:solidFill>
            <a:srgbClr val="FBE3C0"/>
          </a:solidFill>
          <a:ln w="12700">
            <a:solidFill>
              <a:srgbClr val="FBE3C0"/>
            </a:solidFill>
            <a:prstDash val="solid"/>
          </a:ln>
        </p:spPr>
      </p:sp>
      <p:sp>
        <p:nvSpPr>
          <p:cNvPr id="4" name="Eixo do tempo"/>
          <p:cNvSpPr/>
          <p:nvPr/>
        </p:nvSpPr>
        <p:spPr>
          <a:xfrm>
            <a:off x="822960" y="3566160"/>
            <a:ext cx="10545775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+0 s</a:t>
            </a:r>
            <a:endParaRPr lang="en-US" sz="1100" dirty="0"/>
          </a:p>
        </p:txBody>
      </p:sp>
      <p:sp>
        <p:nvSpPr>
          <p:cNvPr id="6" name="Marca 0"/>
          <p:cNvSpPr/>
          <p:nvPr/>
        </p:nvSpPr>
        <p:spPr>
          <a:xfrm>
            <a:off x="822960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4829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+2 s</a:t>
            </a:r>
            <a:endParaRPr lang="en-US" sz="1100" dirty="0"/>
          </a:p>
        </p:txBody>
      </p:sp>
      <p:sp>
        <p:nvSpPr>
          <p:cNvPr id="8" name="Marca 2"/>
          <p:cNvSpPr/>
          <p:nvPr/>
        </p:nvSpPr>
        <p:spPr>
          <a:xfrm>
            <a:off x="2580589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2458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+4 s</a:t>
            </a:r>
            <a:endParaRPr lang="en-US" sz="1100" dirty="0"/>
          </a:p>
        </p:txBody>
      </p:sp>
      <p:sp>
        <p:nvSpPr>
          <p:cNvPr id="10" name="Marca 4"/>
          <p:cNvSpPr/>
          <p:nvPr/>
        </p:nvSpPr>
        <p:spPr>
          <a:xfrm>
            <a:off x="4338218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30088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+6 s</a:t>
            </a:r>
            <a:endParaRPr lang="en-US" sz="1100" dirty="0"/>
          </a:p>
        </p:txBody>
      </p:sp>
      <p:sp>
        <p:nvSpPr>
          <p:cNvPr id="12" name="Marca 6"/>
          <p:cNvSpPr/>
          <p:nvPr/>
        </p:nvSpPr>
        <p:spPr>
          <a:xfrm>
            <a:off x="6095848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87717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+8 s</a:t>
            </a:r>
            <a:endParaRPr lang="en-US" sz="1100" dirty="0"/>
          </a:p>
        </p:txBody>
      </p:sp>
      <p:sp>
        <p:nvSpPr>
          <p:cNvPr id="14" name="Marca 8"/>
          <p:cNvSpPr/>
          <p:nvPr/>
        </p:nvSpPr>
        <p:spPr>
          <a:xfrm>
            <a:off x="7853477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45346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+10 s</a:t>
            </a:r>
            <a:endParaRPr lang="en-US" sz="1100" dirty="0"/>
          </a:p>
        </p:txBody>
      </p:sp>
      <p:sp>
        <p:nvSpPr>
          <p:cNvPr id="16" name="Marca 10"/>
          <p:cNvSpPr/>
          <p:nvPr/>
        </p:nvSpPr>
        <p:spPr>
          <a:xfrm>
            <a:off x="9611106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002975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+12 s</a:t>
            </a:r>
            <a:endParaRPr lang="en-US" sz="1100" dirty="0"/>
          </a:p>
        </p:txBody>
      </p:sp>
      <p:sp>
        <p:nvSpPr>
          <p:cNvPr id="18" name="Marca 12"/>
          <p:cNvSpPr/>
          <p:nvPr/>
        </p:nvSpPr>
        <p:spPr>
          <a:xfrm>
            <a:off x="11368735" y="55778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Evento 1"/>
          <p:cNvSpPr/>
          <p:nvPr/>
        </p:nvSpPr>
        <p:spPr>
          <a:xfrm>
            <a:off x="713232" y="3456432"/>
            <a:ext cx="219456" cy="219456"/>
          </a:xfrm>
          <a:prstGeom prst="ellipse">
            <a:avLst/>
          </a:prstGeom>
          <a:solidFill>
            <a:srgbClr val="E548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Haste 1"/>
          <p:cNvSpPr/>
          <p:nvPr/>
        </p:nvSpPr>
        <p:spPr>
          <a:xfrm>
            <a:off x="822960" y="2651760"/>
            <a:ext cx="0" cy="77724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</a:rPr>
              <a:t>+0,00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kill -9 no gcs_server; porta fecha</a:t>
            </a:r>
            <a:endParaRPr lang="en-US" sz="1200" dirty="0"/>
          </a:p>
        </p:txBody>
      </p:sp>
      <p:sp>
        <p:nvSpPr>
          <p:cNvPr id="22" name="Evento 2"/>
          <p:cNvSpPr/>
          <p:nvPr/>
        </p:nvSpPr>
        <p:spPr>
          <a:xfrm>
            <a:off x="1205368" y="3456432"/>
            <a:ext cx="219456" cy="219456"/>
          </a:xfrm>
          <a:prstGeom prst="ellipse">
            <a:avLst/>
          </a:prstGeom>
          <a:solidFill>
            <a:srgbClr val="E39B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Haste 2"/>
          <p:cNvSpPr/>
          <p:nvPr/>
        </p:nvSpPr>
        <p:spPr>
          <a:xfrm>
            <a:off x="1315096" y="3703320"/>
            <a:ext cx="0" cy="777240"/>
          </a:xfrm>
          <a:prstGeom prst="line">
            <a:avLst/>
          </a:prstGeom>
          <a:noFill/>
          <a:ln w="12700">
            <a:solidFill>
              <a:srgbClr val="E39B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26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B0B"/>
                </a:solidFill>
              </a:rPr>
              <a:t>+0,56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ray start --block encerra o head (rc=1)</a:t>
            </a:r>
            <a:endParaRPr lang="en-US" sz="1200" dirty="0"/>
          </a:p>
        </p:txBody>
      </p:sp>
      <p:sp>
        <p:nvSpPr>
          <p:cNvPr id="25" name="Evento 3"/>
          <p:cNvSpPr/>
          <p:nvPr/>
        </p:nvSpPr>
        <p:spPr>
          <a:xfrm>
            <a:off x="2962997" y="3456432"/>
            <a:ext cx="219456" cy="219456"/>
          </a:xfrm>
          <a:prstGeom prst="ellipse">
            <a:avLst/>
          </a:prstGeom>
          <a:solidFill>
            <a:srgbClr val="3E7B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Haste 3"/>
          <p:cNvSpPr/>
          <p:nvPr/>
        </p:nvSpPr>
        <p:spPr>
          <a:xfrm>
            <a:off x="3072725" y="2651760"/>
            <a:ext cx="0" cy="777240"/>
          </a:xfrm>
          <a:prstGeom prst="line">
            <a:avLst/>
          </a:prstGeom>
          <a:noFill/>
          <a:ln w="12700">
            <a:solidFill>
              <a:srgbClr val="3E7B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04045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D6"/>
                </a:solidFill>
              </a:rPr>
              <a:t>+2,56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Supervisor sobe head novo</a:t>
            </a:r>
            <a:endParaRPr lang="en-US" sz="1200" dirty="0"/>
          </a:p>
        </p:txBody>
      </p:sp>
      <p:sp>
        <p:nvSpPr>
          <p:cNvPr id="28" name="Evento 4"/>
          <p:cNvSpPr/>
          <p:nvPr/>
        </p:nvSpPr>
        <p:spPr>
          <a:xfrm>
            <a:off x="4430618" y="3456432"/>
            <a:ext cx="219456" cy="219456"/>
          </a:xfrm>
          <a:prstGeom prst="ellipse">
            <a:avLst/>
          </a:prstGeom>
          <a:solidFill>
            <a:srgbClr val="3E7B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Haste 4"/>
          <p:cNvSpPr/>
          <p:nvPr/>
        </p:nvSpPr>
        <p:spPr>
          <a:xfrm>
            <a:off x="4540346" y="3703320"/>
            <a:ext cx="0" cy="777240"/>
          </a:xfrm>
          <a:prstGeom prst="line">
            <a:avLst/>
          </a:prstGeom>
          <a:noFill/>
          <a:ln w="12700">
            <a:solidFill>
              <a:srgbClr val="3E7B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71666" y="4526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D6"/>
                </a:solidFill>
              </a:rPr>
              <a:t>+4,23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GCS volta a aceitar TCP (:6380)</a:t>
            </a:r>
            <a:endParaRPr lang="en-US" sz="1200" dirty="0"/>
          </a:p>
        </p:txBody>
      </p:sp>
      <p:sp>
        <p:nvSpPr>
          <p:cNvPr id="31" name="Evento 5"/>
          <p:cNvSpPr/>
          <p:nvPr/>
        </p:nvSpPr>
        <p:spPr>
          <a:xfrm>
            <a:off x="5107305" y="3456432"/>
            <a:ext cx="219456" cy="219456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Haste 5"/>
          <p:cNvSpPr/>
          <p:nvPr/>
        </p:nvSpPr>
        <p:spPr>
          <a:xfrm>
            <a:off x="5217033" y="2651760"/>
            <a:ext cx="0" cy="777240"/>
          </a:xfrm>
          <a:prstGeom prst="line">
            <a:avLst/>
          </a:prstGeom>
          <a:noFill/>
          <a:ln w="12700">
            <a:solidFill>
              <a:srgbClr val="0E9F8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8353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</a:rPr>
              <a:t>+5,00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Primeiros probes recuperados</a:t>
            </a:r>
            <a:endParaRPr lang="en-US" sz="1200" dirty="0"/>
          </a:p>
        </p:txBody>
      </p:sp>
      <p:sp>
        <p:nvSpPr>
          <p:cNvPr id="34" name="Evento 6"/>
          <p:cNvSpPr/>
          <p:nvPr/>
        </p:nvSpPr>
        <p:spPr>
          <a:xfrm>
            <a:off x="7207672" y="3456432"/>
            <a:ext cx="219456" cy="219456"/>
          </a:xfrm>
          <a:prstGeom prst="ellipse">
            <a:avLst/>
          </a:prstGeom>
          <a:solidFill>
            <a:srgbClr val="3E7BD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Haste 6"/>
          <p:cNvSpPr/>
          <p:nvPr/>
        </p:nvSpPr>
        <p:spPr>
          <a:xfrm>
            <a:off x="7317400" y="3703320"/>
            <a:ext cx="0" cy="777240"/>
          </a:xfrm>
          <a:prstGeom prst="line">
            <a:avLst/>
          </a:prstGeom>
          <a:noFill/>
          <a:ln w="12700">
            <a:solidFill>
              <a:srgbClr val="3E7B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8720" y="4526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D6"/>
                </a:solidFill>
              </a:rPr>
              <a:t>+7,39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ray health-check OK</a:t>
            </a:r>
            <a:endParaRPr lang="en-US" sz="1200" dirty="0"/>
          </a:p>
        </p:txBody>
      </p:sp>
      <p:sp>
        <p:nvSpPr>
          <p:cNvPr id="37" name="Evento 7"/>
          <p:cNvSpPr/>
          <p:nvPr/>
        </p:nvSpPr>
        <p:spPr>
          <a:xfrm>
            <a:off x="7260401" y="3456432"/>
            <a:ext cx="219456" cy="219456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Haste 7"/>
          <p:cNvSpPr/>
          <p:nvPr/>
        </p:nvSpPr>
        <p:spPr>
          <a:xfrm>
            <a:off x="7370129" y="2651760"/>
            <a:ext cx="0" cy="777240"/>
          </a:xfrm>
          <a:prstGeom prst="line">
            <a:avLst/>
          </a:prstGeom>
          <a:noFill/>
          <a:ln w="12700">
            <a:solidFill>
              <a:srgbClr val="0E9F8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01449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</a:rPr>
              <a:t>+7,45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Todos os probes recuperados</a:t>
            </a:r>
            <a:endParaRPr lang="en-US" sz="1200" dirty="0"/>
          </a:p>
        </p:txBody>
      </p:sp>
      <p:sp>
        <p:nvSpPr>
          <p:cNvPr id="40" name="Evento 8"/>
          <p:cNvSpPr/>
          <p:nvPr/>
        </p:nvSpPr>
        <p:spPr>
          <a:xfrm>
            <a:off x="10002302" y="3456432"/>
            <a:ext cx="219456" cy="219456"/>
          </a:xfrm>
          <a:prstGeom prst="ellipse">
            <a:avLst/>
          </a:prstGeom>
          <a:solidFill>
            <a:srgbClr val="0E9F8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Haste 8"/>
          <p:cNvSpPr/>
          <p:nvPr/>
        </p:nvSpPr>
        <p:spPr>
          <a:xfrm>
            <a:off x="10112030" y="3703320"/>
            <a:ext cx="0" cy="777240"/>
          </a:xfrm>
          <a:prstGeom prst="line">
            <a:avLst/>
          </a:prstGeom>
          <a:noFill/>
          <a:ln w="12700">
            <a:solidFill>
              <a:srgbClr val="0E9F8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43350" y="4526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E"/>
                </a:solidFill>
              </a:rPr>
              <a:t>+10,57 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</a:rPr>
              <a:t>3 de 3 nós vivos de novo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Faixa âmbar: período em que algum probe dos workers estava degradado (erro ou &gt; 2 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Indisponibilidade por probe (gcs_kill + Redis)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1"/>
          <p:cNvSpPr/>
          <p:nvPr/>
        </p:nvSpPr>
        <p:spPr>
          <a:xfrm>
            <a:off x="8229600" y="1463040"/>
            <a:ext cx="34134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58200" y="1600200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210312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local: o processo do worker nunca parou</a:t>
            </a:r>
            <a:endParaRPr lang="en-US" sz="1300" dirty="0"/>
          </a:p>
        </p:txBody>
      </p:sp>
      <p:sp>
        <p:nvSpPr>
          <p:cNvPr id="7" name="Insight 2"/>
          <p:cNvSpPr/>
          <p:nvPr/>
        </p:nvSpPr>
        <p:spPr>
          <a:xfrm>
            <a:off x="8229600" y="2971800"/>
            <a:ext cx="34134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58200" y="3108960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 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61188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RPCs ao GCS (gcs_nodes, actor_lookup) esperam o GCS novo e voltam sozinhas</a:t>
            </a:r>
            <a:endParaRPr lang="en-US" sz="1300" dirty="0"/>
          </a:p>
        </p:txBody>
      </p:sp>
      <p:sp>
        <p:nvSpPr>
          <p:cNvPr id="10" name="Insight 3"/>
          <p:cNvSpPr/>
          <p:nvPr/>
        </p:nvSpPr>
        <p:spPr>
          <a:xfrm>
            <a:off x="8229600" y="4480560"/>
            <a:ext cx="34134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58200" y="4617720"/>
            <a:ext cx="295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≤7,4 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512064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Tarefas tiveram 1 timeout (limite de 5 s do probe) enquanto o raylet reconectava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 Redis × sem tolerância a falhas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Redis externo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Sem FT (--storage none)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GCS volta a aceitar conexões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+4,2 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+3,4 s (vazio)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Processos dos workers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Vivos (local sem impacto)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Encerrados (SILENT)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Probes dos workers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10/10 RECOVERED ou NO IMPACT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10/10 SILENT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Marcador no KV interno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Preservado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Perdido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Actors detached hb_wk_a / hb_wk_b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alive / alive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not_found / not_found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</a:rPr>
                        <a:t>Nós vivos após a falha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7A6D"/>
                          </a:solidFill>
                        </a:rPr>
                        <a:t>3 de 3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262B"/>
                          </a:solidFill>
                        </a:rPr>
                        <a:t>0 de 2 workers</a:t>
                      </a:r>
                      <a:endParaRPr lang="en-US" sz="1500" dirty="0"/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Mesma falha, mesmo código, mesmos tempos de restart: a única diferença é onde o GCS guarda o estado.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demais cenários do laboratório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83080"/>
                <a:gridCol w="1051560"/>
                <a:gridCol w="1828800"/>
                <a:gridCol w="640080"/>
                <a:gridCol w="1325880"/>
                <a:gridCol w="28620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GCS de volta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head_kill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2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+3,6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OK · pior 5,3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alive / alive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ao gcs_kill: head inteiro volta a partir do Redis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gcs_freeze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--down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OK · pior 25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alive / alive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RPCs ficam em espera; tarefas levam ~5 s extras após o SIGCONT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gcs_freeze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--down 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--reconnect-timeout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+40,0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OK · pior 69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alive / alive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Hipótese refutada: o TCP segue aberto, o timeout não dispara e ninguém desiste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redis_outage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--down 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OK · pior 19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alive / alive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GCS cai ~4 s após o Redis e volta assim que o Redis volta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cluster_kill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--down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Metadados voltam do Redis; os processos dos actors, não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Ray 2.59 + Redis 7 · 1 head + 2 workers · observação de 40 a 60 s após a falha · OK = RECOVERED ou NO IMPACT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Conclusões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que aprendemos, limitações e como reproduzir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Lições aprendidas</a:t>
            </a:r>
            <a:endParaRPr lang="en-US" sz="3000" dirty="0"/>
          </a:p>
        </p:txBody>
      </p:sp>
      <p:sp>
        <p:nvSpPr>
          <p:cNvPr id="3" name="Lição 1"/>
          <p:cNvSpPr/>
          <p:nvPr/>
        </p:nvSpPr>
        <p:spPr>
          <a:xfrm>
            <a:off x="548640" y="1463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ção 1 círculo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5" name="Liçã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 storage é o que muda tudo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377440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 Redis (e namespace fixo), a queda do GCS vira uma pausa de segundos; sem ele, é a perda do cluster</a:t>
            </a:r>
            <a:endParaRPr lang="en-US" sz="1500" dirty="0"/>
          </a:p>
        </p:txBody>
      </p:sp>
      <p:sp>
        <p:nvSpPr>
          <p:cNvPr id="8" name="Lição 2"/>
          <p:cNvSpPr/>
          <p:nvPr/>
        </p:nvSpPr>
        <p:spPr>
          <a:xfrm>
            <a:off x="6278728" y="1463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ção 2 círculo"/>
          <p:cNvSpPr/>
          <p:nvPr/>
        </p:nvSpPr>
        <p:spPr>
          <a:xfrm>
            <a:off x="6598768" y="178308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0" name="Liçã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737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50328" y="178308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Congelar não é morrer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650328" y="2377440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 o GCS em SIGSTOP a conexão TCP segue aberta: os workers esperam além do timeout de reconexão e voltam sozinhos</a:t>
            </a:r>
            <a:endParaRPr lang="en-US" sz="1500" dirty="0"/>
          </a:p>
        </p:txBody>
      </p:sp>
      <p:sp>
        <p:nvSpPr>
          <p:cNvPr id="13" name="Lição 3"/>
          <p:cNvSpPr/>
          <p:nvPr/>
        </p:nvSpPr>
        <p:spPr>
          <a:xfrm>
            <a:off x="548640" y="3749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ção 3 círculo"/>
          <p:cNvSpPr/>
          <p:nvPr/>
        </p:nvSpPr>
        <p:spPr>
          <a:xfrm>
            <a:off x="868680" y="406908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5" name="Liçã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4283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06908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Medir de dentro dos workers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663440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porta TCP volta antes do cluster estar utilizável: os probes mostram o tempo real</a:t>
            </a:r>
            <a:endParaRPr lang="en-US" sz="1500" dirty="0"/>
          </a:p>
        </p:txBody>
      </p:sp>
      <p:sp>
        <p:nvSpPr>
          <p:cNvPr id="18" name="Lição 4"/>
          <p:cNvSpPr/>
          <p:nvPr/>
        </p:nvSpPr>
        <p:spPr>
          <a:xfrm>
            <a:off x="6278728" y="3749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ição 4 círculo"/>
          <p:cNvSpPr/>
          <p:nvPr/>
        </p:nvSpPr>
        <p:spPr>
          <a:xfrm>
            <a:off x="6598768" y="406908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0" name="Liçã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737" y="428305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50328" y="4069080"/>
            <a:ext cx="371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Namespace fixo é obrigatório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650328" y="4663440"/>
            <a:ext cx="3718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head precisa voltar com o mesmo RAY_external_storage_namespace, senão o GCS novo não encontra o estado anterior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Limitações e próximos passos</a:t>
            </a:r>
            <a:endParaRPr lang="en-US" sz="3000" dirty="0"/>
          </a:p>
        </p:txBody>
      </p:sp>
      <p:sp>
        <p:nvSpPr>
          <p:cNvPr id="3" name="Limitações"/>
          <p:cNvSpPr/>
          <p:nvPr/>
        </p:nvSpPr>
        <p:spPr>
          <a:xfrm>
            <a:off x="548640" y="1417320"/>
            <a:ext cx="531860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Limitações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6785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Uma máquina só (loopback): não modela partição de rede real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GCS FT com Redis só é suportado oficialmente via KubeRay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estado interno dos actors não é persistido, só seus metadados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 próprio Redis é um ponto único: em produção, use Redis com réplica/HA</a:t>
            </a:r>
            <a:endParaRPr lang="en-US" sz="1600" dirty="0"/>
          </a:p>
        </p:txBody>
      </p:sp>
      <p:sp>
        <p:nvSpPr>
          <p:cNvPr id="6" name="Próximos passos"/>
          <p:cNvSpPr/>
          <p:nvPr/>
        </p:nvSpPr>
        <p:spPr>
          <a:xfrm>
            <a:off x="6324448" y="1417320"/>
            <a:ext cx="531860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44488" y="1645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Próximos passos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44488" y="2240280"/>
            <a:ext cx="46785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Partição de rede com tc netem / pfctl no GCS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Repetir N vezes e reportar média e desvio dos tempos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Levar para KubeRay (kind/minikube) e comparar com o local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Testar backend RocksDB (--storage rocksdb) e Ray Serve sob carga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reproduzir</a:t>
            </a:r>
            <a:endParaRPr lang="en-US" sz="3000" dirty="0"/>
          </a:p>
        </p:txBody>
      </p:sp>
      <p:sp>
        <p:nvSpPr>
          <p:cNvPr id="3" name="Comandos"/>
          <p:cNvSpPr/>
          <p:nvPr/>
        </p:nvSpPr>
        <p:spPr>
          <a:xfrm>
            <a:off x="548640" y="1417320"/>
            <a:ext cx="6949440" cy="4572000"/>
          </a:xfrm>
          <a:prstGeom prst="roundRect">
            <a:avLst>
              <a:gd name="adj" fmla="val 2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ambiente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 &amp;&amp; source .venv/bin/activate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redis   # ou Docker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experimento principal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run_scenario.py gcs_kill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baseline sem tolerância a falhas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run_scenario.py gcs_kill --storage none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reanalisar uma execução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analyze.py logs/&lt;run_id&gt;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41732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olhar no relatório</a:t>
            </a:r>
            <a:endParaRPr lang="en-US" sz="2000" dirty="0"/>
          </a:p>
        </p:txBody>
      </p:sp>
      <p:sp>
        <p:nvSpPr>
          <p:cNvPr id="6" name="Item 1"/>
          <p:cNvSpPr/>
          <p:nvPr/>
        </p:nvSpPr>
        <p:spPr>
          <a:xfrm>
            <a:off x="7863840" y="2057400"/>
            <a:ext cx="3779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2057400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DO TEMPO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eventos relativos à falha</a:t>
            </a:r>
            <a:endParaRPr lang="en-US" sz="1400" dirty="0"/>
          </a:p>
        </p:txBody>
      </p:sp>
      <p:sp>
        <p:nvSpPr>
          <p:cNvPr id="8" name="Item 2"/>
          <p:cNvSpPr/>
          <p:nvPr/>
        </p:nvSpPr>
        <p:spPr>
          <a:xfrm>
            <a:off x="7863840" y="3035808"/>
            <a:ext cx="3779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2440" y="3035808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e outage por worker</a:t>
            </a:r>
            <a:endParaRPr lang="en-US" sz="1400" dirty="0"/>
          </a:p>
        </p:txBody>
      </p:sp>
      <p:sp>
        <p:nvSpPr>
          <p:cNvPr id="10" name="Item 3"/>
          <p:cNvSpPr/>
          <p:nvPr/>
        </p:nvSpPr>
        <p:spPr>
          <a:xfrm>
            <a:off x="7863840" y="4014216"/>
            <a:ext cx="3779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4014216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KV e actors sobreviveram?</a:t>
            </a:r>
            <a:endParaRPr lang="en-US" sz="1400" dirty="0"/>
          </a:p>
        </p:txBody>
      </p:sp>
      <p:sp>
        <p:nvSpPr>
          <p:cNvPr id="12" name="Item 4"/>
          <p:cNvSpPr/>
          <p:nvPr/>
        </p:nvSpPr>
        <p:spPr>
          <a:xfrm>
            <a:off x="7863840" y="4992624"/>
            <a:ext cx="37792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4992624"/>
            <a:ext cx="3322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dados para gráficos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 GCS pode cair; o cluster não precisa cair junto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Redis externo + restart no mesmo endereço e namespace = recuperação em segundos, com estado preservado</a:t>
            </a:r>
            <a:endParaRPr lang="en-US" sz="2000" dirty="0"/>
          </a:p>
        </p:txBody>
      </p:sp>
      <p:sp>
        <p:nvSpPr>
          <p:cNvPr id="4" name="Conclusão círculo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5" name="Conclus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945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Obrigada! Perguntas?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S Recovery Lab">
  <a:themeElements>
    <a:clrScheme name="GCS Recovery Lab">
      <a:dk1>
        <a:srgbClr val="0F1B2D"/>
      </a:dk1>
      <a:lt1>
        <a:srgbClr val="FFFFFF"/>
      </a:lt1>
      <a:dk2>
        <a:srgbClr val="1E3350"/>
      </a:dk2>
      <a:lt2>
        <a:srgbClr val="EEF3F7"/>
      </a:lt2>
      <a:accent1>
        <a:srgbClr val="0E9F8E"/>
      </a:accent1>
      <a:accent2>
        <a:srgbClr val="E5484D"/>
      </a:accent2>
      <a:accent3>
        <a:srgbClr val="E39B0B"/>
      </a:accent3>
      <a:accent4>
        <a:srgbClr val="3E7BD6"/>
      </a:accent4>
      <a:accent5>
        <a:srgbClr val="64748B"/>
      </a:accent5>
      <a:accent6>
        <a:srgbClr val="7C5CD6"/>
      </a:accent6>
      <a:hlink>
        <a:srgbClr val="3E7BD6"/>
      </a:hlink>
      <a:folHlink>
        <a:srgbClr val="7C5CD6"/>
      </a:folHlink>
    </a:clrScheme>
    <a:fontScheme name="GCS Recovery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Tolerância a falhas do GCS no Ray com Redis externo</dc:title>
  <dc:subject>Laboratório de Sistemas Distribuídos</dc:subject>
  <dc:creator>Georgia Antunes</dc:creator>
  <cp:lastModifiedBy>Georgia Antunes</cp:lastModifiedBy>
  <cp:revision>1</cp:revision>
  <dcterms:created xsi:type="dcterms:W3CDTF">2026-10-27T21:57:59Z</dcterms:created>
  <dcterms:modified xsi:type="dcterms:W3CDTF">2026-10-27T21:57:59Z</dcterms:modified>
</cp:coreProperties>
</file>